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strument Sans Bold" panose="020B0604020202020204" charset="0"/>
      <p:regular r:id="rId13"/>
    </p:embeddedFont>
    <p:embeddedFont>
      <p:font typeface="Instrument Sans Medium" panose="020B0604020202020204" charset="0"/>
      <p:regular r:id="rId14"/>
    </p:embeddedFont>
    <p:embeddedFont>
      <p:font typeface="Instrument Sans Semi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9541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99418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Unleashing Potential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955006"/>
            <a:ext cx="4722763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6 Pillars of Skill-Related Fitness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3925119" y="339037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 separates good athletes from elite performers — it's not just strength or endurance.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0184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Defining the Performance Edge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2835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Skill-related fitness components are </a:t>
            </a:r>
            <a:r>
              <a:rPr lang="en-US" sz="11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trained motor abilities</a:t>
            </a: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not inherited traits — built through targeted practice.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214637"/>
            <a:ext cx="4004965" cy="514499"/>
          </a:xfrm>
          <a:prstGeom prst="roundRect">
            <a:avLst>
              <a:gd name="adj" fmla="val 11573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2640" y="2361158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Agility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42842" y="2214637"/>
            <a:ext cx="4005039" cy="514499"/>
          </a:xfrm>
          <a:prstGeom prst="roundRect">
            <a:avLst>
              <a:gd name="adj" fmla="val 11573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9363" y="2361158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Balance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96119" y="2870895"/>
            <a:ext cx="4004965" cy="514499"/>
          </a:xfrm>
          <a:prstGeom prst="roundRect">
            <a:avLst>
              <a:gd name="adj" fmla="val 11573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640" y="3017416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Coordination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642842" y="2870895"/>
            <a:ext cx="4005039" cy="514499"/>
          </a:xfrm>
          <a:prstGeom prst="roundRect">
            <a:avLst>
              <a:gd name="adj" fmla="val 11573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9363" y="3017416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Power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96119" y="3527152"/>
            <a:ext cx="4004965" cy="514499"/>
          </a:xfrm>
          <a:prstGeom prst="roundRect">
            <a:avLst>
              <a:gd name="adj" fmla="val 11573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640" y="3673673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Reaction Time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42842" y="3527152"/>
            <a:ext cx="4005039" cy="514499"/>
          </a:xfrm>
          <a:prstGeom prst="roundRect">
            <a:avLst>
              <a:gd name="adj" fmla="val 11573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9363" y="3673673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Speed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33065"/>
            <a:ext cx="628427" cy="215354"/>
          </a:xfrm>
          <a:prstGeom prst="roundRect">
            <a:avLst>
              <a:gd name="adj" fmla="val 22119"/>
            </a:avLst>
          </a:prstGeom>
          <a:solidFill>
            <a:srgbClr val="E2E3E9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875556"/>
            <a:ext cx="91551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PILLAR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10512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Speed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1809006" y="2326704"/>
            <a:ext cx="2551807" cy="1417662"/>
          </a:xfrm>
          <a:prstGeom prst="roundRect">
            <a:avLst>
              <a:gd name="adj" fmla="val 4200"/>
            </a:avLst>
          </a:prstGeom>
          <a:solidFill>
            <a:srgbClr val="DFDFE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472" y="2895302"/>
            <a:ext cx="142875" cy="1428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25576" y="3106043"/>
            <a:ext cx="1718667" cy="106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500" dirty="0">
                <a:solidFill>
                  <a:srgbClr val="AEAEB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There was an error generating this image</a:t>
            </a:r>
            <a:endParaRPr lang="en-US" sz="500" dirty="0"/>
          </a:p>
        </p:txBody>
      </p:sp>
      <p:sp>
        <p:nvSpPr>
          <p:cNvPr id="8" name="Text 5"/>
          <p:cNvSpPr/>
          <p:nvPr/>
        </p:nvSpPr>
        <p:spPr>
          <a:xfrm>
            <a:off x="5830186" y="1206141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Definition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917868" y="1826270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Performing a movement or covering distance in the </a:t>
            </a:r>
            <a:r>
              <a:rPr lang="en-US" sz="14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shortest possible time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830186" y="2944789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Elite Example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917868" y="3295167"/>
            <a:ext cx="308543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Usain Bolt's </a:t>
            </a:r>
            <a:r>
              <a:rPr lang="en-US" sz="14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9.58s</a:t>
            </a: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100m world record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830186" y="3744366"/>
            <a:ext cx="2822383" cy="180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Test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795739" y="4182889"/>
            <a:ext cx="308543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30m or 40m sprint dash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323180" cy="107603"/>
          </a:xfrm>
          <a:prstGeom prst="roundRect">
            <a:avLst>
              <a:gd name="adj" fmla="val 22134"/>
            </a:avLst>
          </a:prstGeom>
          <a:solidFill>
            <a:srgbClr val="E2E3E9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695399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baseline="-25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PILLAR 2</a:t>
            </a:r>
            <a:endParaRPr lang="en-US" sz="1600" baseline="-250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aseline="-250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Coordination</a:t>
            </a:r>
            <a:endParaRPr lang="en-US" sz="1600" baseline="-25000" dirty="0"/>
          </a:p>
        </p:txBody>
      </p:sp>
      <p:sp>
        <p:nvSpPr>
          <p:cNvPr id="5" name="Text 3"/>
          <p:cNvSpPr/>
          <p:nvPr/>
        </p:nvSpPr>
        <p:spPr>
          <a:xfrm>
            <a:off x="724719" y="1685776"/>
            <a:ext cx="274067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aseline="-250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Definition</a:t>
            </a:r>
            <a:endParaRPr lang="en-US" sz="1600" baseline="-25000" dirty="0"/>
          </a:p>
        </p:txBody>
      </p:sp>
      <p:sp>
        <p:nvSpPr>
          <p:cNvPr id="6" name="Text 4"/>
          <p:cNvSpPr/>
          <p:nvPr/>
        </p:nvSpPr>
        <p:spPr>
          <a:xfrm>
            <a:off x="151792" y="1959028"/>
            <a:ext cx="319787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aseline="-25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Using senses and body parts together for </a:t>
            </a:r>
            <a:r>
              <a:rPr lang="en-US" sz="1600" b="1" baseline="-25000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smooth, accurate motor tasks</a:t>
            </a:r>
            <a:endParaRPr lang="en-US" sz="1600" baseline="-25000" dirty="0"/>
          </a:p>
        </p:txBody>
      </p:sp>
      <p:sp>
        <p:nvSpPr>
          <p:cNvPr id="7" name="Text 5"/>
          <p:cNvSpPr/>
          <p:nvPr/>
        </p:nvSpPr>
        <p:spPr>
          <a:xfrm>
            <a:off x="674724" y="2539492"/>
            <a:ext cx="274067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aseline="-250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Elite Example</a:t>
            </a:r>
            <a:endParaRPr lang="en-US" sz="1600" baseline="-25000" dirty="0"/>
          </a:p>
        </p:txBody>
      </p:sp>
      <p:sp>
        <p:nvSpPr>
          <p:cNvPr id="8" name="Text 6"/>
          <p:cNvSpPr/>
          <p:nvPr/>
        </p:nvSpPr>
        <p:spPr>
          <a:xfrm>
            <a:off x="329675" y="2848856"/>
            <a:ext cx="319787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aseline="-25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Tennis player's serve — precise </a:t>
            </a:r>
            <a:r>
              <a:rPr lang="en-US" sz="1600" b="1" baseline="-25000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hand-eye synchronization</a:t>
            </a:r>
            <a:endParaRPr lang="en-US" sz="1600" baseline="-25000" dirty="0"/>
          </a:p>
        </p:txBody>
      </p:sp>
      <p:sp>
        <p:nvSpPr>
          <p:cNvPr id="9" name="Text 7"/>
          <p:cNvSpPr/>
          <p:nvPr/>
        </p:nvSpPr>
        <p:spPr>
          <a:xfrm>
            <a:off x="886308" y="3390842"/>
            <a:ext cx="274067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aseline="-250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Test</a:t>
            </a:r>
            <a:endParaRPr lang="en-US" sz="1600" baseline="-25000" dirty="0"/>
          </a:p>
        </p:txBody>
      </p:sp>
      <p:sp>
        <p:nvSpPr>
          <p:cNvPr id="10" name="Text 8"/>
          <p:cNvSpPr/>
          <p:nvPr/>
        </p:nvSpPr>
        <p:spPr>
          <a:xfrm>
            <a:off x="819299" y="3719736"/>
            <a:ext cx="319787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aseline="-25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Alternate hand wall-toss test</a:t>
            </a:r>
            <a:endParaRPr lang="en-US" sz="1600" baseline="-250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997" y="271240"/>
            <a:ext cx="4536504" cy="45365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683716"/>
            <a:ext cx="649784" cy="215354"/>
          </a:xfrm>
          <a:prstGeom prst="roundRect">
            <a:avLst>
              <a:gd name="adj" fmla="val 22119"/>
            </a:avLst>
          </a:prstGeom>
          <a:solidFill>
            <a:srgbClr val="E2E3E9"/>
          </a:solidFill>
          <a:ln/>
        </p:spPr>
      </p:sp>
      <p:sp>
        <p:nvSpPr>
          <p:cNvPr id="4" name="Text 1"/>
          <p:cNvSpPr/>
          <p:nvPr/>
        </p:nvSpPr>
        <p:spPr>
          <a:xfrm>
            <a:off x="4010174" y="726207"/>
            <a:ext cx="93687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PILLAR 3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955774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Balance</a:t>
            </a:r>
            <a:endParaRPr lang="en-US" sz="2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1611362"/>
            <a:ext cx="4722763" cy="8549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62127" y="1772171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Definition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162127" y="2078682"/>
            <a:ext cx="43249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Maintaining </a:t>
            </a:r>
            <a:r>
              <a:rPr lang="en-US" sz="11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equilibrium</a:t>
            </a: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stationary or in motion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608064"/>
            <a:ext cx="4722763" cy="8549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62127" y="2768873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Elite Example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162127" y="3075384"/>
            <a:ext cx="43249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Gymnast executing a precise </a:t>
            </a:r>
            <a:r>
              <a:rPr lang="en-US" sz="11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balance beam routine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3604766"/>
            <a:ext cx="4722763" cy="8549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162127" y="3765575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Test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162127" y="4072086"/>
            <a:ext cx="43249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Stork Balance Stand test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19658"/>
            <a:ext cx="653132" cy="215354"/>
          </a:xfrm>
          <a:prstGeom prst="roundRect">
            <a:avLst>
              <a:gd name="adj" fmla="val 22119"/>
            </a:avLst>
          </a:prstGeom>
          <a:solidFill>
            <a:srgbClr val="E2E3E9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762149"/>
            <a:ext cx="94022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PILLAR 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9171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Agility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1809006" y="2326704"/>
            <a:ext cx="2551807" cy="1417662"/>
          </a:xfrm>
          <a:prstGeom prst="roundRect">
            <a:avLst>
              <a:gd name="adj" fmla="val 4200"/>
            </a:avLst>
          </a:prstGeom>
          <a:solidFill>
            <a:srgbClr val="DFDFE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472" y="2895302"/>
            <a:ext cx="142875" cy="1428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25576" y="3106043"/>
            <a:ext cx="1718667" cy="106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500" dirty="0">
                <a:solidFill>
                  <a:srgbClr val="AEAEB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There was an error generating this image</a:t>
            </a:r>
            <a:endParaRPr lang="en-US" sz="500" dirty="0"/>
          </a:p>
        </p:txBody>
      </p:sp>
      <p:sp>
        <p:nvSpPr>
          <p:cNvPr id="8" name="Text 5"/>
          <p:cNvSpPr/>
          <p:nvPr/>
        </p:nvSpPr>
        <p:spPr>
          <a:xfrm>
            <a:off x="6024339" y="1789063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Definition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24339" y="2152278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Rapidly and accurately </a:t>
            </a:r>
            <a:r>
              <a:rPr lang="en-US" sz="11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changing direction</a:t>
            </a: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at speed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24339" y="2747665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Elite Example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024339" y="3110880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Rugby player stepping past a defender to </a:t>
            </a:r>
            <a:r>
              <a:rPr lang="en-US" sz="11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clear the line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24339" y="3706267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Test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024339" y="4069482"/>
            <a:ext cx="308543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Illinois Agility Run or shuttle runs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172914"/>
            <a:ext cx="649858" cy="215354"/>
          </a:xfrm>
          <a:prstGeom prst="roundRect">
            <a:avLst>
              <a:gd name="adj" fmla="val 22119"/>
            </a:avLst>
          </a:prstGeom>
          <a:solidFill>
            <a:srgbClr val="E2E3E9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1215405"/>
            <a:ext cx="93694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PILLAR 5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444972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Reaction Time</a:t>
            </a:r>
            <a:endParaRPr lang="en-US" sz="2750" dirty="0"/>
          </a:p>
        </p:txBody>
      </p:sp>
      <p:sp>
        <p:nvSpPr>
          <p:cNvPr id="6" name="Shape 3"/>
          <p:cNvSpPr/>
          <p:nvPr/>
        </p:nvSpPr>
        <p:spPr>
          <a:xfrm>
            <a:off x="496119" y="2100560"/>
            <a:ext cx="4722763" cy="1870025"/>
          </a:xfrm>
          <a:prstGeom prst="roundRect">
            <a:avLst>
              <a:gd name="adj" fmla="val 3184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0881" y="2105323"/>
            <a:ext cx="2356619" cy="1043657"/>
          </a:xfrm>
          <a:prstGeom prst="rect">
            <a:avLst/>
          </a:prstGeom>
          <a:solidFill>
            <a:srgbClr val="E2E3E9"/>
          </a:solidFill>
          <a:ln/>
        </p:spPr>
      </p:sp>
      <p:sp>
        <p:nvSpPr>
          <p:cNvPr id="8" name="Text 5"/>
          <p:cNvSpPr/>
          <p:nvPr/>
        </p:nvSpPr>
        <p:spPr>
          <a:xfrm>
            <a:off x="642640" y="2247081"/>
            <a:ext cx="20731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Definition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2640" y="2553593"/>
            <a:ext cx="207310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Time between a </a:t>
            </a:r>
            <a:r>
              <a:rPr lang="en-US" sz="11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stimulus</a:t>
            </a: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and the initiation of a response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857500" y="2105323"/>
            <a:ext cx="2356619" cy="1043657"/>
          </a:xfrm>
          <a:prstGeom prst="rect">
            <a:avLst/>
          </a:prstGeom>
          <a:solidFill>
            <a:srgbClr val="E2E3E9"/>
          </a:solidFill>
          <a:ln/>
        </p:spPr>
      </p:sp>
      <p:sp>
        <p:nvSpPr>
          <p:cNvPr id="11" name="Shape 8"/>
          <p:cNvSpPr/>
          <p:nvPr/>
        </p:nvSpPr>
        <p:spPr>
          <a:xfrm>
            <a:off x="2857500" y="2105323"/>
            <a:ext cx="19050" cy="1043657"/>
          </a:xfrm>
          <a:prstGeom prst="roundRect">
            <a:avLst>
              <a:gd name="adj" fmla="val 312558"/>
            </a:avLst>
          </a:prstGeom>
          <a:solidFill>
            <a:srgbClr val="C8C9CF"/>
          </a:solidFill>
          <a:ln/>
        </p:spPr>
      </p:sp>
      <p:sp>
        <p:nvSpPr>
          <p:cNvPr id="12" name="Text 9"/>
          <p:cNvSpPr/>
          <p:nvPr/>
        </p:nvSpPr>
        <p:spPr>
          <a:xfrm>
            <a:off x="2999259" y="2247081"/>
            <a:ext cx="20731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Elite Example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2999259" y="2553593"/>
            <a:ext cx="207310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Goalkeeper diving the </a:t>
            </a:r>
            <a:r>
              <a:rPr lang="en-US" sz="11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instant</a:t>
            </a: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the ball is struck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0881" y="3148980"/>
            <a:ext cx="4713238" cy="816843"/>
          </a:xfrm>
          <a:prstGeom prst="rect">
            <a:avLst/>
          </a:prstGeom>
          <a:solidFill>
            <a:srgbClr val="E2E3E9"/>
          </a:solidFill>
          <a:ln/>
        </p:spPr>
      </p:sp>
      <p:sp>
        <p:nvSpPr>
          <p:cNvPr id="15" name="Shape 12"/>
          <p:cNvSpPr/>
          <p:nvPr/>
        </p:nvSpPr>
        <p:spPr>
          <a:xfrm>
            <a:off x="500881" y="3148980"/>
            <a:ext cx="4713238" cy="19050"/>
          </a:xfrm>
          <a:prstGeom prst="roundRect">
            <a:avLst>
              <a:gd name="adj" fmla="val 312558"/>
            </a:avLst>
          </a:prstGeom>
          <a:solidFill>
            <a:srgbClr val="C8C9CF"/>
          </a:solidFill>
          <a:ln/>
        </p:spPr>
      </p:sp>
      <p:sp>
        <p:nvSpPr>
          <p:cNvPr id="16" name="Text 13"/>
          <p:cNvSpPr/>
          <p:nvPr/>
        </p:nvSpPr>
        <p:spPr>
          <a:xfrm>
            <a:off x="642640" y="3290739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Test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42640" y="3597250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Ruler Drop test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326380" cy="107603"/>
          </a:xfrm>
          <a:prstGeom prst="roundRect">
            <a:avLst>
              <a:gd name="adj" fmla="val 22134"/>
            </a:avLst>
          </a:prstGeom>
          <a:solidFill>
            <a:srgbClr val="E2E3E9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698599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PILLAR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Power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58" y="825996"/>
            <a:ext cx="4784601" cy="71768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54572" y="2046690"/>
            <a:ext cx="274067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68644" y="2812534"/>
            <a:ext cx="319787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Strength × Speed</a:t>
            </a: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explosive energy output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97244" y="3595075"/>
            <a:ext cx="274067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Elite Example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6130" y="3978391"/>
            <a:ext cx="319787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Basketball player's </a:t>
            </a:r>
            <a:r>
              <a:rPr lang="en-US" sz="12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vertical leap</a:t>
            </a: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to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secure a rebound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6130" y="4463940"/>
            <a:ext cx="274067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11900" y="4713387"/>
            <a:ext cx="319787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Vertical Jump test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138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Training for Mastery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2789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Performance is </a:t>
            </a:r>
            <a:r>
              <a:rPr lang="en-US" sz="11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built</a:t>
            </a: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not born. These components respond to neurological and physical conditioning.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100" y="1514177"/>
            <a:ext cx="4787801" cy="28415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10481" y="3696633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Dominate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10581" y="3696633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Train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486226" y="3696633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Assess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51522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Success requires a </a:t>
            </a:r>
            <a:r>
              <a:rPr lang="en-US" sz="11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tailored blend</a:t>
            </a: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of all six components matched to your sport's demands.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865956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Your Competitive Advantage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964531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385816" y="2013198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Assess Your Baseline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385816" y="2319710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Test each component to find your starting point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925119" y="2830041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85816" y="2878708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Train with Intent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385816" y="3185220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Targeted drills transform potential into dominance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695551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5816" y="3744218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Compete at Your Peak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385816" y="4050729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difference between participation and elite performance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315</Words>
  <Application>Microsoft Office PowerPoint</Application>
  <PresentationFormat>On-screen Show (16:9)</PresentationFormat>
  <Paragraphs>85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Instrument Sans SemiBold</vt:lpstr>
      <vt:lpstr>Arial</vt:lpstr>
      <vt:lpstr>Instrument Sans Medium</vt:lpstr>
      <vt:lpstr>Instrument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Rohit sharma</cp:lastModifiedBy>
  <cp:revision>3</cp:revision>
  <dcterms:created xsi:type="dcterms:W3CDTF">2026-07-13T04:34:00Z</dcterms:created>
  <dcterms:modified xsi:type="dcterms:W3CDTF">2026-07-15T04:27:07Z</dcterms:modified>
</cp:coreProperties>
</file>