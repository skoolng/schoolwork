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</p:sldIdLst>
  <p:sldSz cx="12192000" cy="6858000"/>
  <p:notesSz cx="6858000" cy="9144000"/>
  <p:embeddedFontLst>
    <p:embeddedFont>
      <p:font typeface="Barlow Semi Condensed" panose="00000506000000000000" pitchFamily="2" charset="0"/>
      <p:regular r:id="rId12"/>
      <p:bold r:id="rId13"/>
      <p:italic r:id="rId14"/>
      <p:boldItalic r:id="rId15"/>
    </p:embeddedFont>
    <p:embeddedFont>
      <p:font typeface="Barlow Semi Condensed Light" panose="00000406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gHlYuLKj6Vp0/jvGwuLJuphg8k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dirty="0"/>
              <a:t>"What happens when you press a button?"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5220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How does a game communicate with a player?</a:t>
            </a:r>
          </a:p>
          <a:p>
            <a:r>
              <a:rPr lang="en-IN" dirty="0"/>
              <a:t>What is the function of your school ID card?</a:t>
            </a:r>
          </a:p>
          <a:p>
            <a:r>
              <a:rPr lang="en-IN" dirty="0"/>
              <a:t>What parts make a school system?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IN" dirty="0"/>
              <a:t>What innovation do you use every day?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963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Because we are creating:</a:t>
            </a:r>
          </a:p>
          <a:p>
            <a:r>
              <a:rPr lang="en-IN" dirty="0"/>
              <a:t>Interactive digital solutions</a:t>
            </a:r>
          </a:p>
          <a:p>
            <a:r>
              <a:rPr lang="en-IN" dirty="0"/>
              <a:t>using coding.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3860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Reflection</a:t>
            </a:r>
          </a:p>
          <a:p>
            <a:r>
              <a:rPr lang="en-IN" dirty="0"/>
              <a:t>How does technology help people communicate?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2311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99155" y="513759"/>
            <a:ext cx="5150177" cy="15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arlow Semi Condensed Light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699155" y="2300140"/>
            <a:ext cx="5150177" cy="120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5163" y="265522"/>
            <a:ext cx="2304264" cy="1843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7" descr="A black background with white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68" y="5638801"/>
            <a:ext cx="3708400" cy="74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62146" y="0"/>
            <a:ext cx="11449640" cy="9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62146" y="1184602"/>
            <a:ext cx="11449640" cy="452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>
            <a:spLocks noGrp="1"/>
          </p:cNvSpPr>
          <p:nvPr>
            <p:ph type="title"/>
          </p:nvPr>
        </p:nvSpPr>
        <p:spPr>
          <a:xfrm>
            <a:off x="362146" y="0"/>
            <a:ext cx="11449640" cy="9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0" y="6501342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/>
          </p:nvPr>
        </p:nvSpPr>
        <p:spPr>
          <a:xfrm>
            <a:off x="362146" y="0"/>
            <a:ext cx="11449640" cy="9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 Condensed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Barlow Semi Condensed Ligh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362146" y="0"/>
            <a:ext cx="11449640" cy="9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 rot="5400000">
            <a:off x="3825302" y="-2278554"/>
            <a:ext cx="4523328" cy="1144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362146" y="0"/>
            <a:ext cx="11449640" cy="90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Barlow Semi Condensed Light"/>
              <a:buNone/>
              <a:defRPr sz="4400" b="0" i="0" u="none" strike="noStrike" cap="none">
                <a:solidFill>
                  <a:schemeClr val="accent1"/>
                </a:solidFill>
                <a:latin typeface="Barlow Semi Condensed Light"/>
                <a:ea typeface="Barlow Semi Condensed Light"/>
                <a:cs typeface="Barlow Semi Condensed Light"/>
                <a:sym typeface="Barlow Semi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362146" y="1184602"/>
            <a:ext cx="11449640" cy="4523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ftr" idx="11"/>
          </p:nvPr>
        </p:nvSpPr>
        <p:spPr>
          <a:xfrm>
            <a:off x="0" y="6492875"/>
            <a:ext cx="3223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ldNum" idx="12"/>
          </p:nvPr>
        </p:nvSpPr>
        <p:spPr>
          <a:xfrm>
            <a:off x="5377205" y="6492874"/>
            <a:ext cx="13535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0" marR="0" lvl="1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0" marR="0" lvl="2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0" marR="0" lvl="3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0" marR="0" lvl="4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0" marR="0" lvl="5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0" marR="0" lvl="6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0" marR="0" lvl="7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0" marR="0" lvl="8" indent="0" algn="ctr" rtl="0">
              <a:spcBef>
                <a:spcPts val="0"/>
              </a:spcBef>
              <a:buNone/>
              <a:defRPr sz="1000" b="0" i="0" u="none" strike="noStrike" cap="none">
                <a:solidFill>
                  <a:schemeClr val="l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15721" y="5352740"/>
            <a:ext cx="1246104" cy="7476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>
            <a:spLocks noGrp="1"/>
          </p:cNvSpPr>
          <p:nvPr>
            <p:ph type="ctrTitle"/>
          </p:nvPr>
        </p:nvSpPr>
        <p:spPr>
          <a:xfrm>
            <a:off x="699147" y="513750"/>
            <a:ext cx="79215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IN" dirty="0"/>
              <a:t>Welcome to MYP Design Unit-1</a:t>
            </a:r>
            <a:endParaRPr dirty="0"/>
          </a:p>
        </p:txBody>
      </p:sp>
      <p:sp>
        <p:nvSpPr>
          <p:cNvPr id="78" name="Google Shape;78;p1"/>
          <p:cNvSpPr txBox="1">
            <a:spLocks noGrp="1"/>
          </p:cNvSpPr>
          <p:nvPr>
            <p:ph type="subTitle" idx="1"/>
          </p:nvPr>
        </p:nvSpPr>
        <p:spPr>
          <a:xfrm>
            <a:off x="699155" y="2300140"/>
            <a:ext cx="5150177" cy="1208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</a:pPr>
            <a:r>
              <a:rPr lang="en-IN" sz="3600" dirty="0"/>
              <a:t>Designing for Interaction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9453E-7696-3F91-BE9F-3A14DF65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 1:Designing for Interaction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48498-2257-C544-6C23-41CDB8D25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dirty="0"/>
              <a:t>Welcome to Unit 1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/>
              <a:t>Unit Title:</a:t>
            </a:r>
            <a:br>
              <a:rPr lang="en-IN" dirty="0"/>
            </a:br>
            <a:r>
              <a:rPr lang="en-IN" b="1" dirty="0"/>
              <a:t>Designing for Interaction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sz="7200" dirty="0"/>
              <a:t>What does "</a:t>
            </a:r>
            <a:r>
              <a:rPr lang="en-IN" sz="7200" b="1" dirty="0"/>
              <a:t>interaction</a:t>
            </a:r>
            <a:r>
              <a:rPr lang="en-IN" sz="7200" dirty="0"/>
              <a:t>" mean?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B36DB-4BD6-F009-1F74-83659B60A4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6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C087-E92B-CFFC-971E-C282339E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Interaction?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FC55B-7797-120B-8F79-5E8BC074B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lang="en-IN" sz="5800" dirty="0"/>
              <a:t>Interaction happens when:</a:t>
            </a:r>
          </a:p>
          <a:p>
            <a:pPr marL="114300" indent="0">
              <a:buNone/>
            </a:pPr>
            <a:r>
              <a:rPr lang="en-IN" sz="5800" dirty="0"/>
              <a:t>	User ↔ System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/>
              <a:t>Examples:</a:t>
            </a:r>
          </a:p>
          <a:p>
            <a:r>
              <a:rPr lang="en-IN" dirty="0"/>
              <a:t>ATM </a:t>
            </a:r>
          </a:p>
          <a:p>
            <a:r>
              <a:rPr lang="en-IN" dirty="0"/>
              <a:t>Mobile App </a:t>
            </a:r>
          </a:p>
          <a:p>
            <a:r>
              <a:rPr lang="en-IN" dirty="0"/>
              <a:t>Elevator </a:t>
            </a:r>
          </a:p>
          <a:p>
            <a:r>
              <a:rPr lang="en-IN" dirty="0"/>
              <a:t>Video Game </a:t>
            </a:r>
          </a:p>
          <a:p>
            <a:r>
              <a:rPr lang="en-IN" dirty="0"/>
              <a:t>Smart TV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D27E8-1C06-C1BE-EF50-DF78CECFD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0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5EDE-94DE-A3F1-5CC3-931E2C99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Unit Challenge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6F32E-5ABE-141D-0748-CF92A792C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This term we will learn to:</a:t>
            </a:r>
          </a:p>
          <a:p>
            <a:pPr marL="114300" indent="0">
              <a:buNone/>
            </a:pPr>
            <a:r>
              <a:rPr lang="en-IN" dirty="0"/>
              <a:t>✔ Understand a problem</a:t>
            </a:r>
          </a:p>
          <a:p>
            <a:pPr marL="114300" indent="0">
              <a:buNone/>
            </a:pPr>
            <a:r>
              <a:rPr lang="en-IN" dirty="0"/>
              <a:t>✔ Create ideas</a:t>
            </a:r>
          </a:p>
          <a:p>
            <a:pPr marL="114300" indent="0">
              <a:buNone/>
            </a:pPr>
            <a:r>
              <a:rPr lang="en-IN" dirty="0"/>
              <a:t>✔ Build a solution</a:t>
            </a:r>
          </a:p>
          <a:p>
            <a:pPr marL="114300" indent="0">
              <a:buNone/>
            </a:pPr>
            <a:r>
              <a:rPr lang="en-IN" dirty="0"/>
              <a:t>✔ Test and improve it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sz="3600" dirty="0"/>
              <a:t>Final Project:</a:t>
            </a:r>
          </a:p>
          <a:p>
            <a:pPr marL="114300" indent="0">
              <a:buNone/>
            </a:pPr>
            <a:r>
              <a:rPr lang="en-IN" sz="3600" b="1" dirty="0"/>
              <a:t>	Guess the Number Game</a:t>
            </a:r>
            <a:endParaRPr lang="en-IN" sz="3600" dirty="0"/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D6B31-4B28-7FFC-F48D-2ACF92326F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37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9DBD-B9D8-71F0-1533-B0713A8B1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51" y="371475"/>
            <a:ext cx="11449640" cy="904973"/>
          </a:xfrm>
        </p:spPr>
        <p:txBody>
          <a:bodyPr>
            <a:normAutofit fontScale="90000"/>
          </a:bodyPr>
          <a:lstStyle/>
          <a:p>
            <a:r>
              <a:rPr lang="en-IN" dirty="0"/>
              <a:t>Specified Concepts: Communication, Function, Systems, Innovation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BE786-59E6-DCA5-F105-6E2A2BAA1B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</a:t>
            </a:fld>
            <a:endParaRPr lang="en-IN"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AA632F57-11C8-A46E-F77F-856ED5B25743}"/>
              </a:ext>
            </a:extLst>
          </p:cNvPr>
          <p:cNvSpPr/>
          <p:nvPr/>
        </p:nvSpPr>
        <p:spPr>
          <a:xfrm>
            <a:off x="418147" y="1738495"/>
            <a:ext cx="2577465" cy="4292331"/>
          </a:xfrm>
          <a:prstGeom prst="roundRect">
            <a:avLst/>
          </a:prstGeom>
          <a:solidFill>
            <a:srgbClr val="F8EFD2"/>
          </a:solidFill>
          <a:ln w="19050">
            <a:solidFill>
              <a:srgbClr val="C7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endParaRPr lang="en-IN" sz="2400" b="1" i="0" dirty="0">
              <a:solidFill>
                <a:srgbClr val="373737"/>
              </a:solidFill>
              <a:latin typeface="Calibri"/>
            </a:endParaRPr>
          </a:p>
          <a:p>
            <a:pPr algn="ctr">
              <a:spcAft>
                <a:spcPts val="600"/>
              </a:spcAft>
            </a:pPr>
            <a:r>
              <a:rPr lang="en-IN" sz="2400" b="1" i="0" dirty="0">
                <a:solidFill>
                  <a:srgbClr val="373737"/>
                </a:solidFill>
                <a:latin typeface="Calibri"/>
              </a:rPr>
              <a:t>Communication</a:t>
            </a:r>
            <a:endParaRPr sz="2400" b="1" i="0" dirty="0">
              <a:solidFill>
                <a:srgbClr val="373737"/>
              </a:solidFill>
              <a:latin typeface="Calibri"/>
            </a:endParaRPr>
          </a:p>
          <a:p>
            <a:r>
              <a:rPr lang="en-IN" sz="2000" dirty="0">
                <a:solidFill>
                  <a:schemeClr val="bg2"/>
                </a:solidFill>
              </a:rPr>
              <a:t>Communication is sharing information between people or systems.</a:t>
            </a:r>
          </a:p>
          <a:p>
            <a:endParaRPr lang="en-IN" sz="2000" b="1" dirty="0">
              <a:solidFill>
                <a:schemeClr val="bg2"/>
              </a:solidFill>
            </a:endParaRPr>
          </a:p>
          <a:p>
            <a:r>
              <a:rPr lang="en-IN" sz="20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000" dirty="0">
                <a:solidFill>
                  <a:schemeClr val="bg2"/>
                </a:solidFill>
              </a:rPr>
              <a:t>Talking</a:t>
            </a:r>
          </a:p>
          <a:p>
            <a:r>
              <a:rPr lang="en-IN" sz="2000" dirty="0">
                <a:solidFill>
                  <a:schemeClr val="bg2"/>
                </a:solidFill>
              </a:rPr>
              <a:t>Messaging</a:t>
            </a:r>
          </a:p>
          <a:p>
            <a:r>
              <a:rPr lang="en-IN" sz="2000" dirty="0">
                <a:solidFill>
                  <a:schemeClr val="bg2"/>
                </a:solidFill>
              </a:rPr>
              <a:t>Game giving Instructions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2"/>
              </a:solidFill>
            </a:endParaRPr>
          </a:p>
          <a:p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0B7E359E-8EEE-D273-10D8-994E36BB0C46}"/>
              </a:ext>
            </a:extLst>
          </p:cNvPr>
          <p:cNvSpPr/>
          <p:nvPr/>
        </p:nvSpPr>
        <p:spPr>
          <a:xfrm>
            <a:off x="3143250" y="1508760"/>
            <a:ext cx="2600325" cy="4663440"/>
          </a:xfrm>
          <a:prstGeom prst="roundRect">
            <a:avLst/>
          </a:prstGeom>
          <a:solidFill>
            <a:srgbClr val="E5F2F8"/>
          </a:solidFill>
          <a:ln w="19050">
            <a:solidFill>
              <a:srgbClr val="00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r>
              <a:rPr lang="en-IN" sz="2500" b="1" i="0" dirty="0">
                <a:solidFill>
                  <a:srgbClr val="373737"/>
                </a:solidFill>
                <a:latin typeface="Calibri"/>
              </a:rPr>
              <a:t>Function</a:t>
            </a:r>
            <a:endParaRPr sz="2500" b="1" i="0" dirty="0">
              <a:solidFill>
                <a:srgbClr val="373737"/>
              </a:solidFill>
              <a:latin typeface="Calibri"/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Function is what something is designed to do.</a:t>
            </a:r>
          </a:p>
          <a:p>
            <a:r>
              <a:rPr lang="en-IN" sz="28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000" dirty="0">
                <a:solidFill>
                  <a:schemeClr val="bg2"/>
                </a:solidFill>
              </a:rPr>
              <a:t>Fan → cool air</a:t>
            </a:r>
          </a:p>
          <a:p>
            <a:r>
              <a:rPr lang="en-IN" sz="2000" dirty="0">
                <a:solidFill>
                  <a:schemeClr val="bg2"/>
                </a:solidFill>
              </a:rPr>
              <a:t>Calculator → calculate</a:t>
            </a:r>
          </a:p>
          <a:p>
            <a:r>
              <a:rPr lang="en-IN" sz="2000" dirty="0">
                <a:solidFill>
                  <a:schemeClr val="bg2"/>
                </a:solidFill>
              </a:rPr>
              <a:t>Game → entertain</a:t>
            </a:r>
          </a:p>
          <a:p>
            <a:endParaRPr b="0" i="0" dirty="0">
              <a:solidFill>
                <a:srgbClr val="5C5C5C"/>
              </a:solidFill>
              <a:latin typeface="Calibri"/>
            </a:endParaRP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2559C81F-5B7A-6EE4-82A6-3AD4854EB3A0}"/>
              </a:ext>
            </a:extLst>
          </p:cNvPr>
          <p:cNvSpPr/>
          <p:nvPr/>
        </p:nvSpPr>
        <p:spPr>
          <a:xfrm>
            <a:off x="6096000" y="1508760"/>
            <a:ext cx="2577465" cy="4663440"/>
          </a:xfrm>
          <a:prstGeom prst="roundRect">
            <a:avLst/>
          </a:prstGeom>
          <a:solidFill>
            <a:srgbClr val="F8EFD2"/>
          </a:solidFill>
          <a:ln w="19050">
            <a:solidFill>
              <a:srgbClr val="C7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r>
              <a:rPr lang="en-IN" sz="2500" b="1" i="0" dirty="0">
                <a:solidFill>
                  <a:srgbClr val="373737"/>
                </a:solidFill>
                <a:latin typeface="Calibri"/>
              </a:rPr>
              <a:t>Systems</a:t>
            </a:r>
            <a:endParaRPr sz="2500" b="1" i="0" dirty="0">
              <a:solidFill>
                <a:srgbClr val="373737"/>
              </a:solidFill>
              <a:latin typeface="Calibri"/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A system is a group of connected parts working together.</a:t>
            </a:r>
            <a:endParaRPr lang="en-IN" sz="2400" b="1" dirty="0">
              <a:solidFill>
                <a:schemeClr val="bg2"/>
              </a:solidFill>
            </a:endParaRPr>
          </a:p>
          <a:p>
            <a:r>
              <a:rPr lang="en-IN" sz="24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400" dirty="0">
                <a:solidFill>
                  <a:schemeClr val="bg2"/>
                </a:solidFill>
              </a:rPr>
              <a:t>School</a:t>
            </a:r>
          </a:p>
          <a:p>
            <a:r>
              <a:rPr lang="en-IN" sz="2400" dirty="0">
                <a:solidFill>
                  <a:schemeClr val="bg2"/>
                </a:solidFill>
              </a:rPr>
              <a:t>Computer</a:t>
            </a:r>
          </a:p>
          <a:p>
            <a:r>
              <a:rPr lang="en-IN" sz="2400" dirty="0">
                <a:solidFill>
                  <a:schemeClr val="bg2"/>
                </a:solidFill>
              </a:rPr>
              <a:t>Traffic signals</a:t>
            </a:r>
          </a:p>
          <a:p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0DFB9414-69F2-03DE-80C3-DBF5B3A9C68D}"/>
              </a:ext>
            </a:extLst>
          </p:cNvPr>
          <p:cNvSpPr/>
          <p:nvPr/>
        </p:nvSpPr>
        <p:spPr>
          <a:xfrm>
            <a:off x="9025890" y="1508760"/>
            <a:ext cx="2657475" cy="4663440"/>
          </a:xfrm>
          <a:prstGeom prst="roundRect">
            <a:avLst/>
          </a:prstGeom>
          <a:solidFill>
            <a:srgbClr val="E5F2F8"/>
          </a:solidFill>
          <a:ln w="19050">
            <a:solidFill>
              <a:srgbClr val="00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r>
              <a:rPr lang="en-IN" sz="2500" b="1" i="0" dirty="0">
                <a:solidFill>
                  <a:srgbClr val="373737"/>
                </a:solidFill>
                <a:latin typeface="Calibri"/>
              </a:rPr>
              <a:t>Innovation</a:t>
            </a:r>
            <a:endParaRPr sz="2500" b="1" i="0" dirty="0">
              <a:solidFill>
                <a:srgbClr val="373737"/>
              </a:solidFill>
              <a:latin typeface="Calibri"/>
            </a:endParaRPr>
          </a:p>
          <a:p>
            <a:r>
              <a:rPr lang="en-IN" sz="2400" dirty="0">
                <a:solidFill>
                  <a:schemeClr val="bg2"/>
                </a:solidFill>
              </a:rPr>
              <a:t>Innovation means creating new or improved ideas.</a:t>
            </a:r>
          </a:p>
          <a:p>
            <a:r>
              <a:rPr lang="en-IN" sz="28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400" dirty="0">
                <a:solidFill>
                  <a:schemeClr val="bg2"/>
                </a:solidFill>
              </a:rPr>
              <a:t>Smartphones</a:t>
            </a:r>
          </a:p>
          <a:p>
            <a:r>
              <a:rPr lang="en-IN" sz="2400" dirty="0">
                <a:solidFill>
                  <a:schemeClr val="bg2"/>
                </a:solidFill>
              </a:rPr>
              <a:t>Online learning</a:t>
            </a:r>
          </a:p>
          <a:p>
            <a:r>
              <a:rPr lang="en-IN" sz="2400" dirty="0">
                <a:solidFill>
                  <a:schemeClr val="bg2"/>
                </a:solidFill>
              </a:rPr>
              <a:t>AI tools</a:t>
            </a:r>
          </a:p>
          <a:p>
            <a:endParaRPr b="0" i="0" dirty="0">
              <a:solidFill>
                <a:srgbClr val="5C5C5C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6118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0B509-CF09-3468-2C65-74DF37499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Statement of Inquiry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E8F4D-D48D-6D59-D9BB-893B07CCE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9151" y="1051251"/>
            <a:ext cx="11449640" cy="5111423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IN" sz="7300" dirty="0"/>
              <a:t>Understanding how systems and functions enable communication helps individuals design innovative interactive solutions that respond to user needs.</a:t>
            </a:r>
          </a:p>
          <a:p>
            <a:pPr marL="114300" indent="0">
              <a:buNone/>
            </a:pPr>
            <a:r>
              <a:rPr lang="en-IN" sz="4200" dirty="0"/>
              <a:t>Systems</a:t>
            </a:r>
          </a:p>
          <a:p>
            <a:pPr marL="114300" indent="0">
              <a:buNone/>
            </a:pPr>
            <a:r>
              <a:rPr lang="en-IN" sz="4200" dirty="0"/>
              <a:t>↓</a:t>
            </a:r>
          </a:p>
          <a:p>
            <a:pPr marL="114300" indent="0">
              <a:buNone/>
            </a:pPr>
            <a:r>
              <a:rPr lang="en-IN" sz="4200" dirty="0"/>
              <a:t>Function</a:t>
            </a:r>
          </a:p>
          <a:p>
            <a:pPr marL="114300" indent="0">
              <a:buNone/>
            </a:pPr>
            <a:r>
              <a:rPr lang="en-IN" sz="4200" dirty="0"/>
              <a:t>↓</a:t>
            </a:r>
          </a:p>
          <a:p>
            <a:pPr marL="114300" indent="0">
              <a:buNone/>
            </a:pPr>
            <a:r>
              <a:rPr lang="en-IN" sz="4200" dirty="0"/>
              <a:t>Communication</a:t>
            </a:r>
          </a:p>
          <a:p>
            <a:pPr marL="114300" indent="0">
              <a:buNone/>
            </a:pPr>
            <a:r>
              <a:rPr lang="en-IN" sz="4200" dirty="0"/>
              <a:t>↓</a:t>
            </a:r>
          </a:p>
          <a:p>
            <a:pPr marL="114300" indent="0">
              <a:buNone/>
            </a:pPr>
            <a:r>
              <a:rPr lang="en-IN" sz="4200" dirty="0"/>
              <a:t>Innovation</a:t>
            </a:r>
          </a:p>
          <a:p>
            <a:pPr marL="114300" indent="0">
              <a:buNone/>
            </a:pPr>
            <a:r>
              <a:rPr lang="en-IN" sz="4200" dirty="0"/>
              <a:t>↓</a:t>
            </a:r>
          </a:p>
          <a:p>
            <a:pPr marL="114300" indent="0">
              <a:buNone/>
            </a:pPr>
            <a:r>
              <a:rPr lang="en-IN" sz="4200" dirty="0"/>
              <a:t>Solution</a:t>
            </a:r>
          </a:p>
          <a:p>
            <a:pPr marL="114300" indent="0">
              <a:buNone/>
            </a:pPr>
            <a:endParaRPr lang="en-I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6213C-341C-E3C7-76A8-48D747C619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11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C68D-B0E3-7B1C-F36B-E0C24DC6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Think-Pair-Share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C0562-BEF1-EA8F-6A36-9D5DF424F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/>
              <a:t>Choose one system:</a:t>
            </a:r>
          </a:p>
          <a:p>
            <a:r>
              <a:rPr lang="en-IN" dirty="0"/>
              <a:t>ATM </a:t>
            </a:r>
          </a:p>
          <a:p>
            <a:r>
              <a:rPr lang="en-IN" dirty="0"/>
              <a:t>Mobile App </a:t>
            </a:r>
          </a:p>
          <a:p>
            <a:r>
              <a:rPr lang="en-IN" dirty="0"/>
              <a:t>Video Game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sz="3200" b="1" dirty="0"/>
              <a:t>Discuss:</a:t>
            </a:r>
          </a:p>
          <a:p>
            <a:r>
              <a:rPr lang="en-IN" dirty="0"/>
              <a:t>How does it communicate with users?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3B0E2-EEFE-C75E-2B5F-CE0FDAACF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23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5567-533E-7E55-FDF8-7D4EC0C4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Global Context: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C0930-493E-6262-9A71-DC19D7DC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146" y="1184602"/>
            <a:ext cx="4638479" cy="4523328"/>
          </a:xfrm>
        </p:spPr>
        <p:txBody>
          <a:bodyPr/>
          <a:lstStyle/>
          <a:p>
            <a:pPr marL="114300" indent="0">
              <a:buNone/>
            </a:pPr>
            <a:r>
              <a:rPr lang="en-IN" sz="3600" dirty="0"/>
              <a:t>What does this GC mean?</a:t>
            </a:r>
          </a:p>
          <a:p>
            <a:pPr marL="114300" indent="0">
              <a:buNone/>
            </a:pPr>
            <a:r>
              <a:rPr lang="en-IN" sz="3600" dirty="0"/>
              <a:t>It explores:</a:t>
            </a:r>
          </a:p>
          <a:p>
            <a:r>
              <a:rPr lang="en-IN" sz="3600" dirty="0"/>
              <a:t>Products </a:t>
            </a:r>
          </a:p>
          <a:p>
            <a:r>
              <a:rPr lang="en-IN" sz="3600" dirty="0"/>
              <a:t>Processes 		</a:t>
            </a:r>
          </a:p>
          <a:p>
            <a:r>
              <a:rPr lang="en-IN" sz="3600" dirty="0"/>
              <a:t>Solutions </a:t>
            </a:r>
          </a:p>
          <a:p>
            <a:pPr marL="114300" indent="0">
              <a:buNone/>
            </a:pPr>
            <a:r>
              <a:rPr lang="en-IN" sz="3600" dirty="0"/>
              <a:t>that improve our lives.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EB13-6543-09A8-C6A7-5DFCC156B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8</a:t>
            </a:fld>
            <a:endParaRPr lang="en-IN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A6E63008-1BFD-60DB-7383-F39176C48B74}"/>
              </a:ext>
            </a:extLst>
          </p:cNvPr>
          <p:cNvSpPr/>
          <p:nvPr/>
        </p:nvSpPr>
        <p:spPr>
          <a:xfrm>
            <a:off x="7800977" y="2285999"/>
            <a:ext cx="3400423" cy="2943226"/>
          </a:xfrm>
          <a:prstGeom prst="round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r>
              <a:rPr lang="en-IN" sz="36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3200" dirty="0">
                <a:solidFill>
                  <a:schemeClr val="bg2"/>
                </a:solidFill>
              </a:rPr>
              <a:t>Mobile phones</a:t>
            </a:r>
          </a:p>
          <a:p>
            <a:r>
              <a:rPr lang="en-IN" sz="3200" dirty="0">
                <a:solidFill>
                  <a:schemeClr val="bg2"/>
                </a:solidFill>
              </a:rPr>
              <a:t>Apps</a:t>
            </a:r>
          </a:p>
          <a:p>
            <a:r>
              <a:rPr lang="en-IN" sz="3200" dirty="0">
                <a:solidFill>
                  <a:schemeClr val="bg2"/>
                </a:solidFill>
              </a:rPr>
              <a:t>Robots</a:t>
            </a:r>
          </a:p>
          <a:p>
            <a:r>
              <a:rPr lang="en-IN" sz="3200" dirty="0">
                <a:solidFill>
                  <a:schemeClr val="bg2"/>
                </a:solidFill>
              </a:rPr>
              <a:t>Computers</a:t>
            </a:r>
            <a:r>
              <a:rPr lang="en-IN" sz="1800" b="0" i="0" dirty="0">
                <a:solidFill>
                  <a:schemeClr val="bg2"/>
                </a:solidFill>
                <a:latin typeface="Calibri"/>
              </a:rPr>
              <a:t> </a:t>
            </a:r>
            <a:endParaRPr sz="1800" b="0" i="0" dirty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357E2CE-8F41-FE38-42E8-B241F0ACA28E}"/>
              </a:ext>
            </a:extLst>
          </p:cNvPr>
          <p:cNvSpPr/>
          <p:nvPr/>
        </p:nvSpPr>
        <p:spPr>
          <a:xfrm>
            <a:off x="2962277" y="2406747"/>
            <a:ext cx="4229100" cy="2152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Why is our unit connected to this GC?</a:t>
            </a:r>
          </a:p>
        </p:txBody>
      </p:sp>
    </p:spTree>
    <p:extLst>
      <p:ext uri="{BB962C8B-B14F-4D97-AF65-F5344CB8AC3E}">
        <p14:creationId xmlns:p14="http://schemas.microsoft.com/office/powerpoint/2010/main" val="406554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74DD-9FE4-7100-81E5-11A1B001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Contextual Lens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B2F03-40F0-FA37-8AA1-47745F754A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EEB2F26F-F279-BCAC-698A-73EC0D90176B}"/>
              </a:ext>
            </a:extLst>
          </p:cNvPr>
          <p:cNvSpPr/>
          <p:nvPr/>
        </p:nvSpPr>
        <p:spPr>
          <a:xfrm>
            <a:off x="418147" y="1636943"/>
            <a:ext cx="3553778" cy="422093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r>
              <a:rPr lang="en-IN" sz="2400" b="1" dirty="0">
                <a:solidFill>
                  <a:schemeClr val="bg2"/>
                </a:solidFill>
              </a:rPr>
              <a:t>Individual Lens</a:t>
            </a:r>
          </a:p>
          <a:p>
            <a:pPr>
              <a:spcAft>
                <a:spcPts val="600"/>
              </a:spcAft>
            </a:pPr>
            <a:r>
              <a:rPr lang="en-IN" sz="2000" dirty="0">
                <a:solidFill>
                  <a:schemeClr val="bg2"/>
                </a:solidFill>
              </a:rPr>
              <a:t>How do I interact with digital systems in my daily life?</a:t>
            </a:r>
            <a:endParaRPr lang="en-IN" sz="2000" b="1" dirty="0">
              <a:solidFill>
                <a:schemeClr val="bg2"/>
              </a:solidFill>
            </a:endParaRPr>
          </a:p>
          <a:p>
            <a:r>
              <a:rPr lang="en-IN" sz="20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000" dirty="0">
                <a:solidFill>
                  <a:schemeClr val="bg2"/>
                </a:solidFill>
              </a:rPr>
              <a:t>Phone</a:t>
            </a:r>
          </a:p>
          <a:p>
            <a:r>
              <a:rPr lang="en-IN" sz="2000" dirty="0">
                <a:solidFill>
                  <a:schemeClr val="bg2"/>
                </a:solidFill>
              </a:rPr>
              <a:t>Games</a:t>
            </a:r>
          </a:p>
          <a:p>
            <a:r>
              <a:rPr lang="en-IN" sz="2000" dirty="0">
                <a:solidFill>
                  <a:schemeClr val="bg2"/>
                </a:solidFill>
              </a:rPr>
              <a:t>YouTube</a:t>
            </a:r>
          </a:p>
          <a:p>
            <a:r>
              <a:rPr lang="en-IN" sz="2000" dirty="0">
                <a:solidFill>
                  <a:schemeClr val="bg2"/>
                </a:solidFill>
              </a:rPr>
              <a:t>Smart TV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CFF654B-7695-EA8F-8F19-E3213079F65C}"/>
              </a:ext>
            </a:extLst>
          </p:cNvPr>
          <p:cNvSpPr/>
          <p:nvPr/>
        </p:nvSpPr>
        <p:spPr>
          <a:xfrm>
            <a:off x="8136016" y="1636942"/>
            <a:ext cx="3553778" cy="422093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r>
              <a:rPr lang="en-IN" sz="2800" dirty="0">
                <a:solidFill>
                  <a:schemeClr val="bg2"/>
                </a:solidFill>
              </a:rPr>
              <a:t>Global Lens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2"/>
                </a:solidFill>
              </a:rPr>
              <a:t>How do interactive technologies impact communication worldwide?</a:t>
            </a:r>
          </a:p>
          <a:p>
            <a:pPr>
              <a:spcAft>
                <a:spcPts val="600"/>
              </a:spcAft>
            </a:pPr>
            <a:r>
              <a:rPr lang="en-IN" sz="24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400" dirty="0">
                <a:solidFill>
                  <a:schemeClr val="bg2"/>
                </a:solidFill>
              </a:rPr>
              <a:t>Video calls</a:t>
            </a:r>
          </a:p>
          <a:p>
            <a:r>
              <a:rPr lang="en-IN" sz="2400" dirty="0">
                <a:solidFill>
                  <a:schemeClr val="bg2"/>
                </a:solidFill>
              </a:rPr>
              <a:t>Social media</a:t>
            </a:r>
          </a:p>
          <a:p>
            <a:r>
              <a:rPr lang="en-IN" sz="2400" dirty="0">
                <a:solidFill>
                  <a:schemeClr val="bg2"/>
                </a:solidFill>
              </a:rPr>
              <a:t>Online learning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144D14B9-457C-06BC-0C32-496A5F918CB8}"/>
              </a:ext>
            </a:extLst>
          </p:cNvPr>
          <p:cNvSpPr/>
          <p:nvPr/>
        </p:nvSpPr>
        <p:spPr>
          <a:xfrm>
            <a:off x="4221923" y="1636944"/>
            <a:ext cx="3664095" cy="422093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60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rtlCol="0" anchor="ctr"/>
          <a:lstStyle/>
          <a:p>
            <a:pPr algn="ctr">
              <a:spcAft>
                <a:spcPts val="600"/>
              </a:spcAft>
            </a:pPr>
            <a:r>
              <a:rPr lang="en-IN" sz="2800" b="1" dirty="0">
                <a:solidFill>
                  <a:schemeClr val="bg2"/>
                </a:solidFill>
              </a:rPr>
              <a:t>Local Lens</a:t>
            </a:r>
          </a:p>
          <a:p>
            <a:pPr>
              <a:spcAft>
                <a:spcPts val="600"/>
              </a:spcAft>
            </a:pPr>
            <a:r>
              <a:rPr lang="en-IN" sz="2400" dirty="0">
                <a:solidFill>
                  <a:schemeClr val="bg2"/>
                </a:solidFill>
              </a:rPr>
              <a:t>How do people in my school or community use interactive applications?</a:t>
            </a:r>
          </a:p>
          <a:p>
            <a:pPr>
              <a:spcAft>
                <a:spcPts val="600"/>
              </a:spcAft>
            </a:pPr>
            <a:r>
              <a:rPr lang="en-IN" sz="2800" b="1" dirty="0">
                <a:solidFill>
                  <a:schemeClr val="bg2"/>
                </a:solidFill>
              </a:rPr>
              <a:t>Examples:</a:t>
            </a:r>
          </a:p>
          <a:p>
            <a:r>
              <a:rPr lang="en-IN" sz="2400" dirty="0">
                <a:solidFill>
                  <a:schemeClr val="bg2"/>
                </a:solidFill>
              </a:rPr>
              <a:t>Attendance systems</a:t>
            </a:r>
          </a:p>
          <a:p>
            <a:r>
              <a:rPr lang="en-IN" sz="2400" dirty="0">
                <a:solidFill>
                  <a:schemeClr val="bg2"/>
                </a:solidFill>
              </a:rPr>
              <a:t>Learning apps</a:t>
            </a:r>
          </a:p>
          <a:p>
            <a:r>
              <a:rPr lang="en-IN" sz="2400" dirty="0">
                <a:solidFill>
                  <a:schemeClr val="bg2"/>
                </a:solidFill>
              </a:rPr>
              <a:t>School websites</a:t>
            </a:r>
          </a:p>
        </p:txBody>
      </p:sp>
    </p:spTree>
    <p:extLst>
      <p:ext uri="{BB962C8B-B14F-4D97-AF65-F5344CB8AC3E}">
        <p14:creationId xmlns:p14="http://schemas.microsoft.com/office/powerpoint/2010/main" val="3565905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audium">
      <a:dk1>
        <a:srgbClr val="646464"/>
      </a:dk1>
      <a:lt1>
        <a:srgbClr val="FFFFFF"/>
      </a:lt1>
      <a:dk2>
        <a:srgbClr val="000000"/>
      </a:dk2>
      <a:lt2>
        <a:srgbClr val="E7E6E6"/>
      </a:lt2>
      <a:accent1>
        <a:srgbClr val="B62033"/>
      </a:accent1>
      <a:accent2>
        <a:srgbClr val="005E95"/>
      </a:accent2>
      <a:accent3>
        <a:srgbClr val="CA9D2C"/>
      </a:accent3>
      <a:accent4>
        <a:srgbClr val="646464"/>
      </a:accent4>
      <a:accent5>
        <a:srgbClr val="96C800"/>
      </a:accent5>
      <a:accent6>
        <a:srgbClr val="00C8C8"/>
      </a:accent6>
      <a:hlink>
        <a:srgbClr val="B62033"/>
      </a:hlink>
      <a:folHlink>
        <a:srgbClr val="CA9D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1770</TotalTime>
  <Words>396</Words>
  <Application>Microsoft Office PowerPoint</Application>
  <PresentationFormat>Widescreen</PresentationFormat>
  <Paragraphs>128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Barlow Semi Condensed Light</vt:lpstr>
      <vt:lpstr>Calibri</vt:lpstr>
      <vt:lpstr>Barlow Semi Condensed</vt:lpstr>
      <vt:lpstr>Office Theme</vt:lpstr>
      <vt:lpstr>Welcome to MYP Design Unit-1</vt:lpstr>
      <vt:lpstr>Unit 1:Designing for Interaction</vt:lpstr>
      <vt:lpstr>What is Interaction?</vt:lpstr>
      <vt:lpstr>Our Unit Challenge</vt:lpstr>
      <vt:lpstr>Specified Concepts: Communication, Function, Systems, Innovation</vt:lpstr>
      <vt:lpstr>Statement of Inquiry</vt:lpstr>
      <vt:lpstr>Think-Pair-Share</vt:lpstr>
      <vt:lpstr>Global Context:</vt:lpstr>
      <vt:lpstr>Contextual Lens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sudeshna Chatterjee</dc:creator>
  <cp:lastModifiedBy>Priya Kranthi</cp:lastModifiedBy>
  <cp:revision>7</cp:revision>
  <dcterms:created xsi:type="dcterms:W3CDTF">2023-05-17T07:13:02Z</dcterms:created>
  <dcterms:modified xsi:type="dcterms:W3CDTF">2026-06-17T11:27:19Z</dcterms:modified>
</cp:coreProperties>
</file>